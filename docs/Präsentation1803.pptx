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63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BE3469-7C31-488A-8836-2A62A127E5D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580707-3425-4014-90D4-195B14FBC168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 dirty="0"/>
            <a:t>Schnelle und fehlerfreie Erfassung am Point </a:t>
          </a:r>
          <a:r>
            <a:rPr lang="de-DE" b="0" i="0" baseline="0" dirty="0" err="1"/>
            <a:t>of</a:t>
          </a:r>
          <a:r>
            <a:rPr lang="de-DE" b="0" i="0" baseline="0" dirty="0"/>
            <a:t> Sale (Kassensystem).</a:t>
          </a:r>
          <a:endParaRPr lang="en-US" dirty="0"/>
        </a:p>
      </dgm:t>
    </dgm:pt>
    <dgm:pt modelId="{62FD7DD4-E93A-4D0D-AA77-074D8AF0489C}" type="parTrans" cxnId="{5353E3D6-87A6-4EAB-9C6A-27E693533D6F}">
      <dgm:prSet/>
      <dgm:spPr/>
      <dgm:t>
        <a:bodyPr/>
        <a:lstStyle/>
        <a:p>
          <a:endParaRPr lang="en-US"/>
        </a:p>
      </dgm:t>
    </dgm:pt>
    <dgm:pt modelId="{2C4D0D37-5196-4152-9883-35A13CC072A8}" type="sibTrans" cxnId="{5353E3D6-87A6-4EAB-9C6A-27E693533D6F}">
      <dgm:prSet/>
      <dgm:spPr/>
      <dgm:t>
        <a:bodyPr/>
        <a:lstStyle/>
        <a:p>
          <a:endParaRPr lang="en-US"/>
        </a:p>
      </dgm:t>
    </dgm:pt>
    <dgm:pt modelId="{31D1528E-28EF-46A9-B0C0-10FB3C7DC71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Strikte gesetzliche Alterskontrolle bei Tabak und Glücksspiel.</a:t>
          </a:r>
          <a:endParaRPr lang="en-US"/>
        </a:p>
      </dgm:t>
    </dgm:pt>
    <dgm:pt modelId="{A495F210-57A3-4A15-ADDC-64942B8C386B}" type="parTrans" cxnId="{A1FE73C1-4607-4524-BC15-0055D5570CE4}">
      <dgm:prSet/>
      <dgm:spPr/>
      <dgm:t>
        <a:bodyPr/>
        <a:lstStyle/>
        <a:p>
          <a:endParaRPr lang="en-US"/>
        </a:p>
      </dgm:t>
    </dgm:pt>
    <dgm:pt modelId="{579D4804-1ADB-4E2C-8F8D-C43EBFCA3890}" type="sibTrans" cxnId="{A1FE73C1-4607-4524-BC15-0055D5570CE4}">
      <dgm:prSet/>
      <dgm:spPr/>
      <dgm:t>
        <a:bodyPr/>
        <a:lstStyle/>
        <a:p>
          <a:endParaRPr lang="en-US"/>
        </a:p>
      </dgm:t>
    </dgm:pt>
    <dgm:pt modelId="{00C2E301-8CC6-4F26-AD3F-9D1842139C8B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Verwaltung von Zeitschriften-Abos für Stammkunden.</a:t>
          </a:r>
          <a:endParaRPr lang="en-US"/>
        </a:p>
      </dgm:t>
    </dgm:pt>
    <dgm:pt modelId="{4980E30E-A25B-4B05-8D62-1DAF41DFA9EC}" type="parTrans" cxnId="{37CFCEF6-CBC1-41E9-992B-73207A890169}">
      <dgm:prSet/>
      <dgm:spPr/>
      <dgm:t>
        <a:bodyPr/>
        <a:lstStyle/>
        <a:p>
          <a:endParaRPr lang="en-US"/>
        </a:p>
      </dgm:t>
    </dgm:pt>
    <dgm:pt modelId="{5F7123DB-DA49-4EF9-B0C6-03D60C9CC4C2}" type="sibTrans" cxnId="{37CFCEF6-CBC1-41E9-992B-73207A890169}">
      <dgm:prSet/>
      <dgm:spPr/>
      <dgm:t>
        <a:bodyPr/>
        <a:lstStyle/>
        <a:p>
          <a:endParaRPr lang="en-US"/>
        </a:p>
      </dgm:t>
    </dgm:pt>
    <dgm:pt modelId="{82A6D22E-AD37-4035-AF27-B2EAE0AC64A2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0" i="0" baseline="0"/>
            <a:t>Strukturiertes Bestellwesen bei Großhändlern.</a:t>
          </a:r>
          <a:endParaRPr lang="en-US"/>
        </a:p>
      </dgm:t>
    </dgm:pt>
    <dgm:pt modelId="{ACF5E5C5-61D0-4B52-A77C-620ACD3B6C37}" type="parTrans" cxnId="{A4613E96-11F3-4CCB-A5CE-59B1D4620EAD}">
      <dgm:prSet/>
      <dgm:spPr/>
      <dgm:t>
        <a:bodyPr/>
        <a:lstStyle/>
        <a:p>
          <a:endParaRPr lang="en-US"/>
        </a:p>
      </dgm:t>
    </dgm:pt>
    <dgm:pt modelId="{B3F591E0-655C-45B5-BF7D-D023A1134382}" type="sibTrans" cxnId="{A4613E96-11F3-4CCB-A5CE-59B1D4620EAD}">
      <dgm:prSet/>
      <dgm:spPr/>
      <dgm:t>
        <a:bodyPr/>
        <a:lstStyle/>
        <a:p>
          <a:endParaRPr lang="en-US"/>
        </a:p>
      </dgm:t>
    </dgm:pt>
    <dgm:pt modelId="{0A8FB0A3-12BD-4713-83FA-9DE92A734F79}" type="pres">
      <dgm:prSet presAssocID="{CEBE3469-7C31-488A-8836-2A62A127E5DA}" presName="root" presStyleCnt="0">
        <dgm:presLayoutVars>
          <dgm:dir/>
          <dgm:resizeHandles val="exact"/>
        </dgm:presLayoutVars>
      </dgm:prSet>
      <dgm:spPr/>
    </dgm:pt>
    <dgm:pt modelId="{0039BC79-2AB7-41B5-81BC-3A5444FD6BCF}" type="pres">
      <dgm:prSet presAssocID="{50580707-3425-4014-90D4-195B14FBC168}" presName="compNode" presStyleCnt="0"/>
      <dgm:spPr/>
    </dgm:pt>
    <dgm:pt modelId="{2A8F540B-6C3C-4C03-9FBF-23428BE26BC3}" type="pres">
      <dgm:prSet presAssocID="{50580707-3425-4014-90D4-195B14FBC168}" presName="bgRect" presStyleLbl="bgShp" presStyleIdx="0" presStyleCnt="4"/>
      <dgm:spPr/>
    </dgm:pt>
    <dgm:pt modelId="{BEED52F0-74B7-4694-B7A7-1BC044FCC027}" type="pres">
      <dgm:prSet presAssocID="{50580707-3425-4014-90D4-195B14FBC16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D86113FF-7A26-41A1-8BB7-E3BD79B282C4}" type="pres">
      <dgm:prSet presAssocID="{50580707-3425-4014-90D4-195B14FBC168}" presName="spaceRect" presStyleCnt="0"/>
      <dgm:spPr/>
    </dgm:pt>
    <dgm:pt modelId="{086FC027-0293-47A1-95DE-D938E8FC6CAA}" type="pres">
      <dgm:prSet presAssocID="{50580707-3425-4014-90D4-195B14FBC168}" presName="parTx" presStyleLbl="revTx" presStyleIdx="0" presStyleCnt="4">
        <dgm:presLayoutVars>
          <dgm:chMax val="0"/>
          <dgm:chPref val="0"/>
        </dgm:presLayoutVars>
      </dgm:prSet>
      <dgm:spPr/>
    </dgm:pt>
    <dgm:pt modelId="{C9D949CF-3B63-4991-9780-AE5D7F144266}" type="pres">
      <dgm:prSet presAssocID="{2C4D0D37-5196-4152-9883-35A13CC072A8}" presName="sibTrans" presStyleCnt="0"/>
      <dgm:spPr/>
    </dgm:pt>
    <dgm:pt modelId="{FF98CB36-F42C-455E-8699-60DC3A94E346}" type="pres">
      <dgm:prSet presAssocID="{31D1528E-28EF-46A9-B0C0-10FB3C7DC716}" presName="compNode" presStyleCnt="0"/>
      <dgm:spPr/>
    </dgm:pt>
    <dgm:pt modelId="{D036B65A-8C3B-4A08-8F86-7D7039A288DF}" type="pres">
      <dgm:prSet presAssocID="{31D1528E-28EF-46A9-B0C0-10FB3C7DC716}" presName="bgRect" presStyleLbl="bgShp" presStyleIdx="1" presStyleCnt="4"/>
      <dgm:spPr/>
    </dgm:pt>
    <dgm:pt modelId="{AA92A823-97A0-431E-BD77-D416E2C07E88}" type="pres">
      <dgm:prSet presAssocID="{31D1528E-28EF-46A9-B0C0-10FB3C7DC71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919FD018-CAB2-4A83-BBB2-7C62F527C469}" type="pres">
      <dgm:prSet presAssocID="{31D1528E-28EF-46A9-B0C0-10FB3C7DC716}" presName="spaceRect" presStyleCnt="0"/>
      <dgm:spPr/>
    </dgm:pt>
    <dgm:pt modelId="{AF453ACD-1137-4B12-B9EB-10DF2B111A8C}" type="pres">
      <dgm:prSet presAssocID="{31D1528E-28EF-46A9-B0C0-10FB3C7DC716}" presName="parTx" presStyleLbl="revTx" presStyleIdx="1" presStyleCnt="4">
        <dgm:presLayoutVars>
          <dgm:chMax val="0"/>
          <dgm:chPref val="0"/>
        </dgm:presLayoutVars>
      </dgm:prSet>
      <dgm:spPr/>
    </dgm:pt>
    <dgm:pt modelId="{57AC1489-3A87-4C57-A2B0-177D0B178FDF}" type="pres">
      <dgm:prSet presAssocID="{579D4804-1ADB-4E2C-8F8D-C43EBFCA3890}" presName="sibTrans" presStyleCnt="0"/>
      <dgm:spPr/>
    </dgm:pt>
    <dgm:pt modelId="{0839D424-3A06-483D-A2C1-B9A8EA2075FA}" type="pres">
      <dgm:prSet presAssocID="{00C2E301-8CC6-4F26-AD3F-9D1842139C8B}" presName="compNode" presStyleCnt="0"/>
      <dgm:spPr/>
    </dgm:pt>
    <dgm:pt modelId="{701BF9CC-8AE0-4D10-9662-F26DB6671295}" type="pres">
      <dgm:prSet presAssocID="{00C2E301-8CC6-4F26-AD3F-9D1842139C8B}" presName="bgRect" presStyleLbl="bgShp" presStyleIdx="2" presStyleCnt="4"/>
      <dgm:spPr/>
    </dgm:pt>
    <dgm:pt modelId="{A9163579-CC5E-4F36-A08E-03B81B0F419E}" type="pres">
      <dgm:prSet presAssocID="{00C2E301-8CC6-4F26-AD3F-9D1842139C8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eitung"/>
        </a:ext>
      </dgm:extLst>
    </dgm:pt>
    <dgm:pt modelId="{2163BFF8-2988-40A9-8A87-3D268749F91F}" type="pres">
      <dgm:prSet presAssocID="{00C2E301-8CC6-4F26-AD3F-9D1842139C8B}" presName="spaceRect" presStyleCnt="0"/>
      <dgm:spPr/>
    </dgm:pt>
    <dgm:pt modelId="{E2E7B1F5-82A1-49F2-B2B8-50297E810772}" type="pres">
      <dgm:prSet presAssocID="{00C2E301-8CC6-4F26-AD3F-9D1842139C8B}" presName="parTx" presStyleLbl="revTx" presStyleIdx="2" presStyleCnt="4">
        <dgm:presLayoutVars>
          <dgm:chMax val="0"/>
          <dgm:chPref val="0"/>
        </dgm:presLayoutVars>
      </dgm:prSet>
      <dgm:spPr/>
    </dgm:pt>
    <dgm:pt modelId="{E1C580CE-7399-4B99-8C6D-A89A76A4BEE4}" type="pres">
      <dgm:prSet presAssocID="{5F7123DB-DA49-4EF9-B0C6-03D60C9CC4C2}" presName="sibTrans" presStyleCnt="0"/>
      <dgm:spPr/>
    </dgm:pt>
    <dgm:pt modelId="{EB78DFEA-C78B-406F-A77C-A7DE922FB770}" type="pres">
      <dgm:prSet presAssocID="{82A6D22E-AD37-4035-AF27-B2EAE0AC64A2}" presName="compNode" presStyleCnt="0"/>
      <dgm:spPr/>
    </dgm:pt>
    <dgm:pt modelId="{A325A891-10DB-4EC4-B784-B93EA7F75575}" type="pres">
      <dgm:prSet presAssocID="{82A6D22E-AD37-4035-AF27-B2EAE0AC64A2}" presName="bgRect" presStyleLbl="bgShp" presStyleIdx="3" presStyleCnt="4"/>
      <dgm:spPr/>
    </dgm:pt>
    <dgm:pt modelId="{11B67114-7E44-42F6-9AE8-212DBBEA06F9}" type="pres">
      <dgm:prSet presAssocID="{82A6D22E-AD37-4035-AF27-B2EAE0AC64A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ce cream"/>
        </a:ext>
      </dgm:extLst>
    </dgm:pt>
    <dgm:pt modelId="{484D652A-CAD6-49DD-889B-FE82121FDB40}" type="pres">
      <dgm:prSet presAssocID="{82A6D22E-AD37-4035-AF27-B2EAE0AC64A2}" presName="spaceRect" presStyleCnt="0"/>
      <dgm:spPr/>
    </dgm:pt>
    <dgm:pt modelId="{763C264B-0F05-4B87-B143-CD9A6292AA4E}" type="pres">
      <dgm:prSet presAssocID="{82A6D22E-AD37-4035-AF27-B2EAE0AC64A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B19B305-92B0-465D-8986-0FFBE6A1D46A}" type="presOf" srcId="{31D1528E-28EF-46A9-B0C0-10FB3C7DC716}" destId="{AF453ACD-1137-4B12-B9EB-10DF2B111A8C}" srcOrd="0" destOrd="0" presId="urn:microsoft.com/office/officeart/2018/2/layout/IconVerticalSolidList"/>
    <dgm:cxn modelId="{55B64D0A-034F-49C7-9C73-D3CFD45C96B8}" type="presOf" srcId="{CEBE3469-7C31-488A-8836-2A62A127E5DA}" destId="{0A8FB0A3-12BD-4713-83FA-9DE92A734F79}" srcOrd="0" destOrd="0" presId="urn:microsoft.com/office/officeart/2018/2/layout/IconVerticalSolidList"/>
    <dgm:cxn modelId="{A2035023-D390-4056-9BE3-6AE700D486EA}" type="presOf" srcId="{50580707-3425-4014-90D4-195B14FBC168}" destId="{086FC027-0293-47A1-95DE-D938E8FC6CAA}" srcOrd="0" destOrd="0" presId="urn:microsoft.com/office/officeart/2018/2/layout/IconVerticalSolidList"/>
    <dgm:cxn modelId="{F9C5BC74-2C5B-4688-955A-2D6E73211093}" type="presOf" srcId="{00C2E301-8CC6-4F26-AD3F-9D1842139C8B}" destId="{E2E7B1F5-82A1-49F2-B2B8-50297E810772}" srcOrd="0" destOrd="0" presId="urn:microsoft.com/office/officeart/2018/2/layout/IconVerticalSolidList"/>
    <dgm:cxn modelId="{58A3C28F-0BC8-4A7A-AA13-49C718C34CCE}" type="presOf" srcId="{82A6D22E-AD37-4035-AF27-B2EAE0AC64A2}" destId="{763C264B-0F05-4B87-B143-CD9A6292AA4E}" srcOrd="0" destOrd="0" presId="urn:microsoft.com/office/officeart/2018/2/layout/IconVerticalSolidList"/>
    <dgm:cxn modelId="{A4613E96-11F3-4CCB-A5CE-59B1D4620EAD}" srcId="{CEBE3469-7C31-488A-8836-2A62A127E5DA}" destId="{82A6D22E-AD37-4035-AF27-B2EAE0AC64A2}" srcOrd="3" destOrd="0" parTransId="{ACF5E5C5-61D0-4B52-A77C-620ACD3B6C37}" sibTransId="{B3F591E0-655C-45B5-BF7D-D023A1134382}"/>
    <dgm:cxn modelId="{A1FE73C1-4607-4524-BC15-0055D5570CE4}" srcId="{CEBE3469-7C31-488A-8836-2A62A127E5DA}" destId="{31D1528E-28EF-46A9-B0C0-10FB3C7DC716}" srcOrd="1" destOrd="0" parTransId="{A495F210-57A3-4A15-ADDC-64942B8C386B}" sibTransId="{579D4804-1ADB-4E2C-8F8D-C43EBFCA3890}"/>
    <dgm:cxn modelId="{5353E3D6-87A6-4EAB-9C6A-27E693533D6F}" srcId="{CEBE3469-7C31-488A-8836-2A62A127E5DA}" destId="{50580707-3425-4014-90D4-195B14FBC168}" srcOrd="0" destOrd="0" parTransId="{62FD7DD4-E93A-4D0D-AA77-074D8AF0489C}" sibTransId="{2C4D0D37-5196-4152-9883-35A13CC072A8}"/>
    <dgm:cxn modelId="{37CFCEF6-CBC1-41E9-992B-73207A890169}" srcId="{CEBE3469-7C31-488A-8836-2A62A127E5DA}" destId="{00C2E301-8CC6-4F26-AD3F-9D1842139C8B}" srcOrd="2" destOrd="0" parTransId="{4980E30E-A25B-4B05-8D62-1DAF41DFA9EC}" sibTransId="{5F7123DB-DA49-4EF9-B0C6-03D60C9CC4C2}"/>
    <dgm:cxn modelId="{D11BCE47-A5E3-4E36-B1C8-7B5290FAEF95}" type="presParOf" srcId="{0A8FB0A3-12BD-4713-83FA-9DE92A734F79}" destId="{0039BC79-2AB7-41B5-81BC-3A5444FD6BCF}" srcOrd="0" destOrd="0" presId="urn:microsoft.com/office/officeart/2018/2/layout/IconVerticalSolidList"/>
    <dgm:cxn modelId="{1392815C-75CF-4BB2-A704-FBB89EB1AF07}" type="presParOf" srcId="{0039BC79-2AB7-41B5-81BC-3A5444FD6BCF}" destId="{2A8F540B-6C3C-4C03-9FBF-23428BE26BC3}" srcOrd="0" destOrd="0" presId="urn:microsoft.com/office/officeart/2018/2/layout/IconVerticalSolidList"/>
    <dgm:cxn modelId="{9F2FA97E-F651-49AA-935D-E2B14A90C3C1}" type="presParOf" srcId="{0039BC79-2AB7-41B5-81BC-3A5444FD6BCF}" destId="{BEED52F0-74B7-4694-B7A7-1BC044FCC027}" srcOrd="1" destOrd="0" presId="urn:microsoft.com/office/officeart/2018/2/layout/IconVerticalSolidList"/>
    <dgm:cxn modelId="{DD21D069-9D8D-4FD5-8E3E-2CC959266896}" type="presParOf" srcId="{0039BC79-2AB7-41B5-81BC-3A5444FD6BCF}" destId="{D86113FF-7A26-41A1-8BB7-E3BD79B282C4}" srcOrd="2" destOrd="0" presId="urn:microsoft.com/office/officeart/2018/2/layout/IconVerticalSolidList"/>
    <dgm:cxn modelId="{9D778B40-A649-45D3-BD33-43840B720A84}" type="presParOf" srcId="{0039BC79-2AB7-41B5-81BC-3A5444FD6BCF}" destId="{086FC027-0293-47A1-95DE-D938E8FC6CAA}" srcOrd="3" destOrd="0" presId="urn:microsoft.com/office/officeart/2018/2/layout/IconVerticalSolidList"/>
    <dgm:cxn modelId="{6F046A93-50AF-492E-ADF7-24D2C19D8F1D}" type="presParOf" srcId="{0A8FB0A3-12BD-4713-83FA-9DE92A734F79}" destId="{C9D949CF-3B63-4991-9780-AE5D7F144266}" srcOrd="1" destOrd="0" presId="urn:microsoft.com/office/officeart/2018/2/layout/IconVerticalSolidList"/>
    <dgm:cxn modelId="{DEE864D0-E0CE-4DC0-80CC-D7C23DA4B6A7}" type="presParOf" srcId="{0A8FB0A3-12BD-4713-83FA-9DE92A734F79}" destId="{FF98CB36-F42C-455E-8699-60DC3A94E346}" srcOrd="2" destOrd="0" presId="urn:microsoft.com/office/officeart/2018/2/layout/IconVerticalSolidList"/>
    <dgm:cxn modelId="{B1A11DBB-971E-4BC9-A9C8-5E0AE36D349D}" type="presParOf" srcId="{FF98CB36-F42C-455E-8699-60DC3A94E346}" destId="{D036B65A-8C3B-4A08-8F86-7D7039A288DF}" srcOrd="0" destOrd="0" presId="urn:microsoft.com/office/officeart/2018/2/layout/IconVerticalSolidList"/>
    <dgm:cxn modelId="{4CA7CCCE-0154-4D41-9D7A-75C2BD50E9F5}" type="presParOf" srcId="{FF98CB36-F42C-455E-8699-60DC3A94E346}" destId="{AA92A823-97A0-431E-BD77-D416E2C07E88}" srcOrd="1" destOrd="0" presId="urn:microsoft.com/office/officeart/2018/2/layout/IconVerticalSolidList"/>
    <dgm:cxn modelId="{B3730D0F-6094-478B-9823-B9255D03FA30}" type="presParOf" srcId="{FF98CB36-F42C-455E-8699-60DC3A94E346}" destId="{919FD018-CAB2-4A83-BBB2-7C62F527C469}" srcOrd="2" destOrd="0" presId="urn:microsoft.com/office/officeart/2018/2/layout/IconVerticalSolidList"/>
    <dgm:cxn modelId="{31A4E746-B2C5-439D-BD52-CECEA69BD19C}" type="presParOf" srcId="{FF98CB36-F42C-455E-8699-60DC3A94E346}" destId="{AF453ACD-1137-4B12-B9EB-10DF2B111A8C}" srcOrd="3" destOrd="0" presId="urn:microsoft.com/office/officeart/2018/2/layout/IconVerticalSolidList"/>
    <dgm:cxn modelId="{2B74DFB8-E8FD-43A7-A0CA-1898F13DBC90}" type="presParOf" srcId="{0A8FB0A3-12BD-4713-83FA-9DE92A734F79}" destId="{57AC1489-3A87-4C57-A2B0-177D0B178FDF}" srcOrd="3" destOrd="0" presId="urn:microsoft.com/office/officeart/2018/2/layout/IconVerticalSolidList"/>
    <dgm:cxn modelId="{C9C64525-E6B0-4414-9868-D8DD9F748506}" type="presParOf" srcId="{0A8FB0A3-12BD-4713-83FA-9DE92A734F79}" destId="{0839D424-3A06-483D-A2C1-B9A8EA2075FA}" srcOrd="4" destOrd="0" presId="urn:microsoft.com/office/officeart/2018/2/layout/IconVerticalSolidList"/>
    <dgm:cxn modelId="{ED061F96-5234-4F1F-B514-F188D77DFF80}" type="presParOf" srcId="{0839D424-3A06-483D-A2C1-B9A8EA2075FA}" destId="{701BF9CC-8AE0-4D10-9662-F26DB6671295}" srcOrd="0" destOrd="0" presId="urn:microsoft.com/office/officeart/2018/2/layout/IconVerticalSolidList"/>
    <dgm:cxn modelId="{A7CF4F6E-F80A-4ACF-828A-F63A122E3A8B}" type="presParOf" srcId="{0839D424-3A06-483D-A2C1-B9A8EA2075FA}" destId="{A9163579-CC5E-4F36-A08E-03B81B0F419E}" srcOrd="1" destOrd="0" presId="urn:microsoft.com/office/officeart/2018/2/layout/IconVerticalSolidList"/>
    <dgm:cxn modelId="{99FB691F-05A5-4621-A639-24AE440F4B91}" type="presParOf" srcId="{0839D424-3A06-483D-A2C1-B9A8EA2075FA}" destId="{2163BFF8-2988-40A9-8A87-3D268749F91F}" srcOrd="2" destOrd="0" presId="urn:microsoft.com/office/officeart/2018/2/layout/IconVerticalSolidList"/>
    <dgm:cxn modelId="{ABBD417B-3E77-4BDE-A04B-D6023BE5EE95}" type="presParOf" srcId="{0839D424-3A06-483D-A2C1-B9A8EA2075FA}" destId="{E2E7B1F5-82A1-49F2-B2B8-50297E810772}" srcOrd="3" destOrd="0" presId="urn:microsoft.com/office/officeart/2018/2/layout/IconVerticalSolidList"/>
    <dgm:cxn modelId="{2CE09559-D7E7-4D23-8F9D-C397D1DA84E9}" type="presParOf" srcId="{0A8FB0A3-12BD-4713-83FA-9DE92A734F79}" destId="{E1C580CE-7399-4B99-8C6D-A89A76A4BEE4}" srcOrd="5" destOrd="0" presId="urn:microsoft.com/office/officeart/2018/2/layout/IconVerticalSolidList"/>
    <dgm:cxn modelId="{C4C9D9BF-5EC6-453C-8CC8-88A255C05EFD}" type="presParOf" srcId="{0A8FB0A3-12BD-4713-83FA-9DE92A734F79}" destId="{EB78DFEA-C78B-406F-A77C-A7DE922FB770}" srcOrd="6" destOrd="0" presId="urn:microsoft.com/office/officeart/2018/2/layout/IconVerticalSolidList"/>
    <dgm:cxn modelId="{78639CE5-A4F5-4E36-A261-8C7E416628AC}" type="presParOf" srcId="{EB78DFEA-C78B-406F-A77C-A7DE922FB770}" destId="{A325A891-10DB-4EC4-B784-B93EA7F75575}" srcOrd="0" destOrd="0" presId="urn:microsoft.com/office/officeart/2018/2/layout/IconVerticalSolidList"/>
    <dgm:cxn modelId="{84DF02E6-38C5-41A8-AEB8-2216DBACD061}" type="presParOf" srcId="{EB78DFEA-C78B-406F-A77C-A7DE922FB770}" destId="{11B67114-7E44-42F6-9AE8-212DBBEA06F9}" srcOrd="1" destOrd="0" presId="urn:microsoft.com/office/officeart/2018/2/layout/IconVerticalSolidList"/>
    <dgm:cxn modelId="{1D8848F7-6A71-4764-A2CC-5237387A0BA6}" type="presParOf" srcId="{EB78DFEA-C78B-406F-A77C-A7DE922FB770}" destId="{484D652A-CAD6-49DD-889B-FE82121FDB40}" srcOrd="2" destOrd="0" presId="urn:microsoft.com/office/officeart/2018/2/layout/IconVerticalSolidList"/>
    <dgm:cxn modelId="{6299BFB1-7BED-4A7E-AA6F-345762F14714}" type="presParOf" srcId="{EB78DFEA-C78B-406F-A77C-A7DE922FB770}" destId="{763C264B-0F05-4B87-B143-CD9A6292AA4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F540B-6C3C-4C03-9FBF-23428BE26BC3}">
      <dsp:nvSpPr>
        <dsp:cNvPr id="0" name=""/>
        <dsp:cNvSpPr/>
      </dsp:nvSpPr>
      <dsp:spPr>
        <a:xfrm>
          <a:off x="0" y="1912"/>
          <a:ext cx="6683374" cy="9690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D52F0-74B7-4694-B7A7-1BC044FCC027}">
      <dsp:nvSpPr>
        <dsp:cNvPr id="0" name=""/>
        <dsp:cNvSpPr/>
      </dsp:nvSpPr>
      <dsp:spPr>
        <a:xfrm>
          <a:off x="293144" y="219953"/>
          <a:ext cx="532990" cy="532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6FC027-0293-47A1-95DE-D938E8FC6CAA}">
      <dsp:nvSpPr>
        <dsp:cNvPr id="0" name=""/>
        <dsp:cNvSpPr/>
      </dsp:nvSpPr>
      <dsp:spPr>
        <a:xfrm>
          <a:off x="1119280" y="1912"/>
          <a:ext cx="5564094" cy="969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0" tIns="102560" rIns="102560" bIns="10256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0" i="0" kern="1200" baseline="0" dirty="0"/>
            <a:t>Schnelle und fehlerfreie Erfassung am Point </a:t>
          </a:r>
          <a:r>
            <a:rPr lang="de-DE" sz="2200" b="0" i="0" kern="1200" baseline="0" dirty="0" err="1"/>
            <a:t>of</a:t>
          </a:r>
          <a:r>
            <a:rPr lang="de-DE" sz="2200" b="0" i="0" kern="1200" baseline="0" dirty="0"/>
            <a:t> Sale (Kassensystem).</a:t>
          </a:r>
          <a:endParaRPr lang="en-US" sz="2200" kern="1200" dirty="0"/>
        </a:p>
      </dsp:txBody>
      <dsp:txXfrm>
        <a:off x="1119280" y="1912"/>
        <a:ext cx="5564094" cy="969073"/>
      </dsp:txXfrm>
    </dsp:sp>
    <dsp:sp modelId="{D036B65A-8C3B-4A08-8F86-7D7039A288DF}">
      <dsp:nvSpPr>
        <dsp:cNvPr id="0" name=""/>
        <dsp:cNvSpPr/>
      </dsp:nvSpPr>
      <dsp:spPr>
        <a:xfrm>
          <a:off x="0" y="1213254"/>
          <a:ext cx="6683374" cy="9690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92A823-97A0-431E-BD77-D416E2C07E88}">
      <dsp:nvSpPr>
        <dsp:cNvPr id="0" name=""/>
        <dsp:cNvSpPr/>
      </dsp:nvSpPr>
      <dsp:spPr>
        <a:xfrm>
          <a:off x="293144" y="1431296"/>
          <a:ext cx="532990" cy="532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53ACD-1137-4B12-B9EB-10DF2B111A8C}">
      <dsp:nvSpPr>
        <dsp:cNvPr id="0" name=""/>
        <dsp:cNvSpPr/>
      </dsp:nvSpPr>
      <dsp:spPr>
        <a:xfrm>
          <a:off x="1119280" y="1213254"/>
          <a:ext cx="5564094" cy="969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0" tIns="102560" rIns="102560" bIns="10256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0" i="0" kern="1200" baseline="0"/>
            <a:t>Strikte gesetzliche Alterskontrolle bei Tabak und Glücksspiel.</a:t>
          </a:r>
          <a:endParaRPr lang="en-US" sz="2200" kern="1200"/>
        </a:p>
      </dsp:txBody>
      <dsp:txXfrm>
        <a:off x="1119280" y="1213254"/>
        <a:ext cx="5564094" cy="969073"/>
      </dsp:txXfrm>
    </dsp:sp>
    <dsp:sp modelId="{701BF9CC-8AE0-4D10-9662-F26DB6671295}">
      <dsp:nvSpPr>
        <dsp:cNvPr id="0" name=""/>
        <dsp:cNvSpPr/>
      </dsp:nvSpPr>
      <dsp:spPr>
        <a:xfrm>
          <a:off x="0" y="2424596"/>
          <a:ext cx="6683374" cy="9690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163579-CC5E-4F36-A08E-03B81B0F419E}">
      <dsp:nvSpPr>
        <dsp:cNvPr id="0" name=""/>
        <dsp:cNvSpPr/>
      </dsp:nvSpPr>
      <dsp:spPr>
        <a:xfrm>
          <a:off x="293144" y="2642638"/>
          <a:ext cx="532990" cy="532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7B1F5-82A1-49F2-B2B8-50297E810772}">
      <dsp:nvSpPr>
        <dsp:cNvPr id="0" name=""/>
        <dsp:cNvSpPr/>
      </dsp:nvSpPr>
      <dsp:spPr>
        <a:xfrm>
          <a:off x="1119280" y="2424596"/>
          <a:ext cx="5564094" cy="969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0" tIns="102560" rIns="102560" bIns="10256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0" i="0" kern="1200" baseline="0"/>
            <a:t>Verwaltung von Zeitschriften-Abos für Stammkunden.</a:t>
          </a:r>
          <a:endParaRPr lang="en-US" sz="2200" kern="1200"/>
        </a:p>
      </dsp:txBody>
      <dsp:txXfrm>
        <a:off x="1119280" y="2424596"/>
        <a:ext cx="5564094" cy="969073"/>
      </dsp:txXfrm>
    </dsp:sp>
    <dsp:sp modelId="{A325A891-10DB-4EC4-B784-B93EA7F75575}">
      <dsp:nvSpPr>
        <dsp:cNvPr id="0" name=""/>
        <dsp:cNvSpPr/>
      </dsp:nvSpPr>
      <dsp:spPr>
        <a:xfrm>
          <a:off x="0" y="3635939"/>
          <a:ext cx="6683374" cy="9690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B67114-7E44-42F6-9AE8-212DBBEA06F9}">
      <dsp:nvSpPr>
        <dsp:cNvPr id="0" name=""/>
        <dsp:cNvSpPr/>
      </dsp:nvSpPr>
      <dsp:spPr>
        <a:xfrm>
          <a:off x="293144" y="3853980"/>
          <a:ext cx="532990" cy="5329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C264B-0F05-4B87-B143-CD9A6292AA4E}">
      <dsp:nvSpPr>
        <dsp:cNvPr id="0" name=""/>
        <dsp:cNvSpPr/>
      </dsp:nvSpPr>
      <dsp:spPr>
        <a:xfrm>
          <a:off x="1119280" y="3635939"/>
          <a:ext cx="5564094" cy="9690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560" tIns="102560" rIns="102560" bIns="10256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0" i="0" kern="1200" baseline="0"/>
            <a:t>Strukturiertes Bestellwesen bei Großhändlern.</a:t>
          </a:r>
          <a:endParaRPr lang="en-US" sz="2200" kern="1200"/>
        </a:p>
      </dsp:txBody>
      <dsp:txXfrm>
        <a:off x="1119280" y="3635939"/>
        <a:ext cx="5564094" cy="9690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441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237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89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28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928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591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2557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1250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51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36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3799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9607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925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2284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7955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330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7624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669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B4A5B31-C8C7-4C22-B0E9-873766B6517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18D87AE-6B5B-49B9-8603-C078571C5B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146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2255CADE-DCE0-447F-B290-2AE78E5E5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Vintage österreichisches Tabak Trafik Schild Vor Blauem Himmel  Redaktionelles Stockfotografie - Bild von system, platz: 373299627">
            <a:extLst>
              <a:ext uri="{FF2B5EF4-FFF2-40B4-BE49-F238E27FC236}">
                <a16:creationId xmlns:a16="http://schemas.microsoft.com/office/drawing/2014/main" id="{36B335E5-9939-D635-7C08-77EA9E44A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9" r="3317"/>
          <a:stretch>
            <a:fillRect/>
          </a:stretch>
        </p:blipFill>
        <p:spPr bwMode="auto">
          <a:xfrm>
            <a:off x="8860" y="10"/>
            <a:ext cx="69242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6" name="Rectangle 5135">
            <a:extLst>
              <a:ext uri="{FF2B5EF4-FFF2-40B4-BE49-F238E27FC236}">
                <a16:creationId xmlns:a16="http://schemas.microsoft.com/office/drawing/2014/main" id="{4245587C-701C-48A1-9B6B-10C3DF81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30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38" name="Picture 5137">
            <a:extLst>
              <a:ext uri="{FF2B5EF4-FFF2-40B4-BE49-F238E27FC236}">
                <a16:creationId xmlns:a16="http://schemas.microsoft.com/office/drawing/2014/main" id="{2E5CF545-7AAF-4A13-8871-089E929E8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D6D3CC6-BE9A-8AE6-AC75-8673672CE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0382" y="1358901"/>
            <a:ext cx="3707844" cy="2730498"/>
          </a:xfrm>
        </p:spPr>
        <p:txBody>
          <a:bodyPr>
            <a:normAutofit/>
          </a:bodyPr>
          <a:lstStyle/>
          <a:p>
            <a:r>
              <a:rPr lang="de-AT" sz="3000"/>
              <a:t>Datenmodellierung einer Trafik</a:t>
            </a:r>
            <a:endParaRPr lang="de-DE" sz="30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280632-F73C-E3A4-473B-8E20B98246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6707" y="4165601"/>
            <a:ext cx="3487479" cy="78917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e-AT" sz="2000"/>
              <a:t>Team: Andreas, Michael, Leonhard</a:t>
            </a: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339466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FD9B43-ACBC-6E7F-C5B2-6CF7BEAB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de-AT" sz="2400" b="1" dirty="0"/>
              <a:t>Identifizierte Anforderungen</a:t>
            </a:r>
            <a:br>
              <a:rPr lang="de-AT" sz="2400" b="1" dirty="0"/>
            </a:br>
            <a:endParaRPr lang="de-DE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12" name="Rectangle 1">
            <a:extLst>
              <a:ext uri="{FF2B5EF4-FFF2-40B4-BE49-F238E27FC236}">
                <a16:creationId xmlns:a16="http://schemas.microsoft.com/office/drawing/2014/main" id="{EEBBCF3F-0AD9-00E4-6EA6-FBE7F9822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004394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72962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1CA2540-FD07-4286-91E4-8D0DE4E50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2890D6-FEDF-436B-B93D-A8C9FBFC1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07" y="1925053"/>
            <a:ext cx="2048425" cy="19316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800" dirty="0"/>
              <a:t>ERD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4924F5-CDC2-4DFA-82F3-4843ADD67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5" t="89389" r="26987" b="24"/>
          <a:stretch/>
        </p:blipFill>
        <p:spPr>
          <a:xfrm flipH="1">
            <a:off x="0" y="-1"/>
            <a:ext cx="2596444" cy="8727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D59812-6820-446C-B994-0D059C97D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3751"/>
          <a:stretch/>
        </p:blipFill>
        <p:spPr>
          <a:xfrm>
            <a:off x="10473994" y="5564567"/>
            <a:ext cx="1341545" cy="1293433"/>
          </a:xfrm>
          <a:custGeom>
            <a:avLst/>
            <a:gdLst>
              <a:gd name="connsiteX0" fmla="*/ 0 w 1341545"/>
              <a:gd name="connsiteY0" fmla="*/ 0 h 1293433"/>
              <a:gd name="connsiteX1" fmla="*/ 1341545 w 1341545"/>
              <a:gd name="connsiteY1" fmla="*/ 0 h 1293433"/>
              <a:gd name="connsiteX2" fmla="*/ 1341545 w 1341545"/>
              <a:gd name="connsiteY2" fmla="*/ 1293433 h 1293433"/>
              <a:gd name="connsiteX3" fmla="*/ 150847 w 1341545"/>
              <a:gd name="connsiteY3" fmla="*/ 1293433 h 1293433"/>
              <a:gd name="connsiteX4" fmla="*/ 66240 w 1341545"/>
              <a:gd name="connsiteY4" fmla="*/ 1183451 h 1293433"/>
              <a:gd name="connsiteX5" fmla="*/ 0 w 1341545"/>
              <a:gd name="connsiteY5" fmla="*/ 1061841 h 1293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545" h="1293433">
                <a:moveTo>
                  <a:pt x="0" y="0"/>
                </a:moveTo>
                <a:lnTo>
                  <a:pt x="1341545" y="0"/>
                </a:lnTo>
                <a:lnTo>
                  <a:pt x="1341545" y="1293433"/>
                </a:lnTo>
                <a:lnTo>
                  <a:pt x="150847" y="1293433"/>
                </a:lnTo>
                <a:lnTo>
                  <a:pt x="66240" y="1183451"/>
                </a:lnTo>
                <a:lnTo>
                  <a:pt x="0" y="1061841"/>
                </a:lnTo>
                <a:close/>
              </a:path>
            </a:pathLst>
          </a:cu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844ED7C-1917-40D8-8B42-1B1C27BC5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8252"/>
          <a:stretch/>
        </p:blipFill>
        <p:spPr>
          <a:xfrm flipH="1">
            <a:off x="0" y="3142319"/>
            <a:ext cx="4605339" cy="3715682"/>
          </a:xfrm>
          <a:prstGeom prst="rect">
            <a:avLst/>
          </a:prstGeom>
        </p:spPr>
      </p:pic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7073C52C-E4DA-A562-A5F0-BDDA1FC83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8"/>
          <a:stretch>
            <a:fillRect/>
          </a:stretch>
        </p:blipFill>
        <p:spPr>
          <a:xfrm>
            <a:off x="2596444" y="-48601"/>
            <a:ext cx="9595556" cy="69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9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22081EA-7107-46FA-A893-B15086A74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D8889DF-D030-4BCD-9797-4BBD1986C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E6BCE23-A81F-9D4A-73D3-E70B6F0BB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757" y="2514600"/>
            <a:ext cx="3420815" cy="1828800"/>
          </a:xfrm>
        </p:spPr>
        <p:txBody>
          <a:bodyPr anchor="b">
            <a:normAutofit/>
          </a:bodyPr>
          <a:lstStyle/>
          <a:p>
            <a:pPr algn="l"/>
            <a:r>
              <a:rPr lang="de-AT" sz="4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Business Cases</a:t>
            </a:r>
            <a:endParaRPr lang="de-DE" sz="4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1F879A3-BADB-5352-9CE8-9BBDEBCE67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9400" y="2264258"/>
            <a:ext cx="7652929" cy="2710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UC 1: Bestellung &amp; Wareneingang (Ablauf, Logik, Abschluss)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UC 2: Kundenkauf am Point </a:t>
            </a:r>
            <a:r>
              <a:rPr kumimoji="0" lang="de-DE" altLang="de-DE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</a:t>
            </a: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Sale (POS)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UC 3: Aktuelle Bestandsanzeige (Inventar-Übersicht)</a:t>
            </a:r>
          </a:p>
        </p:txBody>
      </p:sp>
    </p:spTree>
    <p:extLst>
      <p:ext uri="{BB962C8B-B14F-4D97-AF65-F5344CB8AC3E}">
        <p14:creationId xmlns:p14="http://schemas.microsoft.com/office/powerpoint/2010/main" val="711648686"/>
      </p:ext>
    </p:extLst>
  </p:cSld>
  <p:clrMapOvr>
    <a:masterClrMapping/>
  </p:clrMapOvr>
</p:sld>
</file>

<file path=ppt/theme/theme1.xml><?xml version="1.0" encoding="utf-8"?>
<a:theme xmlns:a="http://schemas.openxmlformats.org/drawingml/2006/main" name="Tropfen">
  <a:themeElements>
    <a:clrScheme name="Tropfen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Tropfen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opfen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Ausschnitt</Template>
  <TotalTime>0</TotalTime>
  <Words>78</Words>
  <Application>Microsoft Office PowerPoint</Application>
  <PresentationFormat>Breitbild</PresentationFormat>
  <Paragraphs>12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Tw Cen MT</vt:lpstr>
      <vt:lpstr>Tropfen</vt:lpstr>
      <vt:lpstr>Datenmodellierung einer Trafik</vt:lpstr>
      <vt:lpstr>Identifizierte Anforderungen </vt:lpstr>
      <vt:lpstr>ERD</vt:lpstr>
      <vt:lpstr>Business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FRIEDL</dc:creator>
  <cp:lastModifiedBy>Michael FRIEDL</cp:lastModifiedBy>
  <cp:revision>9</cp:revision>
  <dcterms:created xsi:type="dcterms:W3CDTF">2026-03-17T19:01:22Z</dcterms:created>
  <dcterms:modified xsi:type="dcterms:W3CDTF">2026-03-25T14:03:47Z</dcterms:modified>
</cp:coreProperties>
</file>